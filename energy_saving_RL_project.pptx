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2203A"/>
              </a:gs>
              <a:gs pos="100000">
                <a:srgbClr val="214170"/>
              </a:gs>
            </a:gsLst>
            <a:lin ang="30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869680" y="-1463040"/>
            <a:ext cx="5120640" cy="5120640"/>
          </a:xfrm>
          <a:prstGeom prst="ellipse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0" y="4206240"/>
            <a:ext cx="3474720" cy="3474720"/>
          </a:xfrm>
          <a:prstGeom prst="ellipse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27648"/>
            <a:ext cx="12191695" cy="530352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272784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6070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</a:rPr>
              <a:t>Energy Saving in O-RAN with Reinforcement Learning</a:t>
            </a:r>
          </a:p>
          <a:p>
            <a:pPr>
              <a:spcBef>
                <a:spcPts val="1000"/>
              </a:spcBef>
            </a:pPr>
            <a:r>
              <a:rPr sz="1800" b="0" i="0">
                <a:solidFill>
                  <a:srgbClr val="C9D6E5"/>
                </a:solidFill>
              </a:rPr>
              <a:t>A digital-twin study: learning to sleep 5G cells without hurting service quality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343400"/>
            <a:ext cx="2181758" cy="457200"/>
          </a:xfrm>
          <a:prstGeom prst="roundRect">
            <a:avLst>
              <a:gd name="adj" fmla="val 50000"/>
            </a:avLst>
          </a:prstGeom>
          <a:solidFill>
            <a:srgbClr val="0072B2"/>
          </a:solidFill>
          <a:ln>
            <a:noFill/>
          </a:ln>
          <a:effectLst>
            <a:outerShdw blurRad="60000" dist="22000" dir="5400000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ns-3 mmWave O-RAN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2462" y="4343400"/>
            <a:ext cx="1984248" cy="457200"/>
          </a:xfrm>
          <a:prstGeom prst="roundRect">
            <a:avLst>
              <a:gd name="adj" fmla="val 50000"/>
            </a:avLst>
          </a:prstGeom>
          <a:solidFill>
            <a:srgbClr val="009E73"/>
          </a:solidFill>
          <a:ln>
            <a:noFill/>
          </a:ln>
          <a:effectLst>
            <a:outerShdw blurRad="60000" dist="22000" dir="5400000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imitation + PPO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46166" y="4343400"/>
            <a:ext cx="2675534" cy="457200"/>
          </a:xfrm>
          <a:prstGeom prst="roundRect">
            <a:avLst>
              <a:gd name="adj" fmla="val 50000"/>
            </a:avLst>
          </a:prstGeom>
          <a:solidFill>
            <a:srgbClr val="E69F00"/>
          </a:solidFill>
          <a:ln>
            <a:noFill/>
          </a:ln>
          <a:effectLst>
            <a:outerShdw blurRad="60000" dist="22000" dir="5400000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energy-vs-QoS tradeoff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64224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FFFFFF"/>
                </a:solidFill>
              </a:rPr>
              <a:t>ns-O-RAN digital-twin study  ·  imitation + reinforcement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072B2"/>
                </a:solidFill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2233"/>
                </a:solidFill>
              </a:rPr>
              <a:t>The problem &amp; the goal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2468880" cy="6858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10512"/>
            <a:ext cx="11091672" cy="4462272"/>
          </a:xfrm>
          <a:prstGeom prst="roundRect">
            <a:avLst>
              <a:gd name="adj" fmla="val 2800"/>
            </a:avLst>
          </a:prstGeom>
          <a:solidFill>
            <a:srgbClr val="F3F6FB"/>
          </a:solidFill>
          <a:ln w="12700">
            <a:solidFill>
              <a:srgbClr val="DDE4F0"/>
            </a:solidFill>
          </a:ln>
          <a:effectLst>
            <a:outerShdw blurRad="90000" dist="32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48256"/>
            <a:ext cx="103784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5G base stations (gNBs) draw ~600 W even when almost idle — a large, avoidable energy cost.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Idea: an intelligent controller that puts unused gNBs to sleep, waking them when demand returns.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The tension: sleep too aggressively and you drop calls / lose throughput (QoS).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Company goal: a reinforcement-learning (RL) controller that beats the hand-coded heuristic on the</a:t>
            </a:r>
          </a:p>
          <a:p>
            <a:pPr marL="603504" indent="-274320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009E73"/>
                </a:solidFill>
              </a:rPr>
              <a:t>–  </a:t>
            </a:r>
            <a:r>
              <a:rPr sz="1600" b="0" i="0">
                <a:solidFill>
                  <a:srgbClr val="5B6472"/>
                </a:solidFill>
              </a:rPr>
              <a:t>energy-vs-QoS tradeoff — more energy saved without hurting throughput or reliability.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881360" cy="11887"/>
          </a:xfrm>
          <a:prstGeom prst="rect">
            <a:avLst/>
          </a:prstGeom>
          <a:solidFill>
            <a:srgbClr val="DD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B6472"/>
                </a:solidFill>
              </a:rPr>
              <a:t>Energy-Saving RL  ·  ns-O-RAN digital twin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556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2"/>
                </a:solidFill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072B2"/>
                </a:solidFill>
              </a:rPr>
              <a:t>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2233"/>
                </a:solidFill>
              </a:rPr>
              <a:t>The digital twin (what we simulate)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2468880" cy="6858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10512"/>
            <a:ext cx="11091672" cy="4462272"/>
          </a:xfrm>
          <a:prstGeom prst="roundRect">
            <a:avLst>
              <a:gd name="adj" fmla="val 2800"/>
            </a:avLst>
          </a:prstGeom>
          <a:solidFill>
            <a:srgbClr val="F3F6FB"/>
          </a:solidFill>
          <a:ln w="12700">
            <a:solidFill>
              <a:srgbClr val="DDE4F0"/>
            </a:solidFill>
          </a:ln>
          <a:effectLst>
            <a:outerShdw blurRad="90000" dist="32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48256"/>
            <a:ext cx="103784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ns-3 mmWave O-RAN simulator, scenario-three: 1 LTE anchor cell + 7 mmWave gNBs (can sleep), 6 users.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Traffic redesigned to 3 sharp bursts per episode (+ an always-on baseline user) — so the controller</a:t>
            </a:r>
          </a:p>
          <a:p>
            <a:pPr marL="603504" indent="-274320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009E73"/>
                </a:solidFill>
              </a:rPr>
              <a:t>–  </a:t>
            </a:r>
            <a:r>
              <a:rPr sz="1600" b="0" i="0">
                <a:solidFill>
                  <a:srgbClr val="5B6472"/>
                </a:solidFill>
              </a:rPr>
              <a:t>must adapt in real time (sleep in the lulls, wake for the bursts).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Energy model: each ON gNB = 600 W static + 400 W x utilisation; a sleeping gNB ~ 0 W.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Key constraint: the simulator runs ~15-20 s per 100 ms control step (CPU-bound) — this shapes everything.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881360" cy="11887"/>
          </a:xfrm>
          <a:prstGeom prst="rect">
            <a:avLst/>
          </a:prstGeom>
          <a:solidFill>
            <a:srgbClr val="DD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B6472"/>
                </a:solidFill>
              </a:rPr>
              <a:t>Energy-Saving RL  ·  ns-O-RAN digital twin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556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2"/>
                </a:solidFill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072B2"/>
                </a:solidFill>
              </a:rPr>
              <a:t>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2233"/>
                </a:solidFill>
              </a:rPr>
              <a:t>How it works — real-time closed-loop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2468880" cy="6858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10512"/>
            <a:ext cx="11091672" cy="4462272"/>
          </a:xfrm>
          <a:prstGeom prst="roundRect">
            <a:avLst>
              <a:gd name="adj" fmla="val 2800"/>
            </a:avLst>
          </a:prstGeom>
          <a:solidFill>
            <a:srgbClr val="F3F6FB"/>
          </a:solidFill>
          <a:ln w="12700">
            <a:solidFill>
              <a:srgbClr val="DDE4F0"/>
            </a:solidFill>
          </a:ln>
          <a:effectLst>
            <a:outerShdw blurRad="90000" dist="32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48256"/>
            <a:ext cx="103784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Every 100 ms, a handshake over shared memory (files + semaphores):</a:t>
            </a:r>
          </a:p>
          <a:p>
            <a:pPr marL="603504" indent="-274320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009E73"/>
                </a:solidFill>
              </a:rPr>
              <a:t>–  </a:t>
            </a:r>
            <a:r>
              <a:rPr sz="1600" b="0" i="0">
                <a:solidFill>
                  <a:srgbClr val="5B6472"/>
                </a:solidFill>
              </a:rPr>
              <a:t>ns-3 emits per-cell KPMs (load, throughput, dropped calls) -&gt; a 61-number observation.</a:t>
            </a:r>
          </a:p>
          <a:p>
            <a:pPr marL="603504" indent="-274320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009E73"/>
                </a:solidFill>
              </a:rPr>
              <a:t>–  </a:t>
            </a:r>
            <a:r>
              <a:rPr sz="1600" b="0" i="0">
                <a:solidFill>
                  <a:srgbClr val="5B6472"/>
                </a:solidFill>
              </a:rPr>
              <a:t>the controller picks a 7-bit ON/OFF action (one bit per gNB; anchor always ON).</a:t>
            </a:r>
          </a:p>
          <a:p>
            <a:pPr marL="603504" indent="-274320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009E73"/>
                </a:solidFill>
              </a:rPr>
              <a:t>–  </a:t>
            </a:r>
            <a:r>
              <a:rPr sz="1600" b="0" i="0">
                <a:solidFill>
                  <a:srgbClr val="5B6472"/>
                </a:solidFill>
              </a:rPr>
              <a:t>the action is written back; ns-3 applies it and advances 100 ms.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Reward the RL optimises:  throughput(Mbps) - energy(kW) - 2 x dropped-calls(RLF).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The controller plays the role of an O-RAN 'xApp'; we drive the sim directly (no live RIC needed).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881360" cy="11887"/>
          </a:xfrm>
          <a:prstGeom prst="rect">
            <a:avLst/>
          </a:prstGeom>
          <a:solidFill>
            <a:srgbClr val="DD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B6472"/>
                </a:solidFill>
              </a:rPr>
              <a:t>Energy-Saving RL  ·  ns-O-RAN digital twin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556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2"/>
                </a:solidFill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072B2"/>
                </a:solidFill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2233"/>
                </a:solidFill>
              </a:rPr>
              <a:t>The controllers we compared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2468880" cy="6858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10512"/>
            <a:ext cx="11091672" cy="4462272"/>
          </a:xfrm>
          <a:prstGeom prst="roundRect">
            <a:avLst>
              <a:gd name="adj" fmla="val 2800"/>
            </a:avLst>
          </a:prstGeom>
          <a:solidFill>
            <a:srgbClr val="F3F6FB"/>
          </a:solidFill>
          <a:ln w="12700">
            <a:solidFill>
              <a:srgbClr val="DDE4F0"/>
            </a:solidFill>
          </a:ln>
          <a:effectLst>
            <a:outerShdw blurRad="90000" dist="32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48256"/>
            <a:ext cx="103784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Heuristic (TwinHeuristic) - the company baseline: load-adaptive, sleeps idle cells, wakes on neighbour load.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Behaviour Cloning (BC) - a neural net trained to copy the heuristic (reached 100% match).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PPO (reinforcement learning) - warm-started from BC, then fine-tuned on the reward. The one that can surpass.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Pruning controller - an aggressive energy-saver with a tunable 'grace' dial (energy-vs-reliability).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(ns-3's own built-in heuristic is quota-driven and can't adapt to load - hence the custom one.)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881360" cy="11887"/>
          </a:xfrm>
          <a:prstGeom prst="rect">
            <a:avLst/>
          </a:prstGeom>
          <a:solidFill>
            <a:srgbClr val="DD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B6472"/>
                </a:solidFill>
              </a:rPr>
              <a:t>Energy-Saving RL  ·  ns-O-RAN digital twin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556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2"/>
                </a:solidFill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072B2"/>
                </a:solidFill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2233"/>
                </a:solidFill>
              </a:rPr>
              <a:t>The learning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2468880" cy="6858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10512"/>
            <a:ext cx="11091672" cy="4462272"/>
          </a:xfrm>
          <a:prstGeom prst="roundRect">
            <a:avLst>
              <a:gd name="adj" fmla="val 2800"/>
            </a:avLst>
          </a:prstGeom>
          <a:solidFill>
            <a:srgbClr val="F3F6FB"/>
          </a:solidFill>
          <a:ln w="12700">
            <a:solidFill>
              <a:srgbClr val="DDE4F0"/>
            </a:solidFill>
          </a:ln>
          <a:effectLst>
            <a:outerShdw blurRad="90000" dist="32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48256"/>
            <a:ext cx="103784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1)  Collect expert demonstrations - run the heuristic on the twin, log (observation, action) pairs.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2)  Behaviour Cloning (+ critic warm-up) - clone the heuristic into the policy AND pre-train its value</a:t>
            </a:r>
          </a:p>
          <a:p>
            <a:pPr marL="603504" indent="-274320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009E73"/>
                </a:solidFill>
              </a:rPr>
              <a:t>–  </a:t>
            </a:r>
            <a:r>
              <a:rPr sz="1600" b="0" i="0">
                <a:solidFill>
                  <a:srgbClr val="5B6472"/>
                </a:solidFill>
              </a:rPr>
              <a:t>estimator; the warm-up fixes a classic BC-&gt;PPO collapse we hit and diagnosed.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3)  PPO fine-tune (~4 h, live ns-3 rollouts) - improve on the true reward.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4)  Evaluate deterministically vs the heuristic across 4 seeds; score energy / throughput / RLF.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All reproducible; trained model + demos committed to the repo.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881360" cy="11887"/>
          </a:xfrm>
          <a:prstGeom prst="rect">
            <a:avLst/>
          </a:prstGeom>
          <a:solidFill>
            <a:srgbClr val="DD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B6472"/>
                </a:solidFill>
              </a:rPr>
              <a:t>Energy-Saving RL  ·  ns-O-RAN digital twin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556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2"/>
                </a:solidFill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072B2"/>
                </a:solidFill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2233"/>
                </a:solidFill>
              </a:rPr>
              <a:t>Result 1 — the energy-vs-QoS tradeoff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2468880" cy="6858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5B6472"/>
                </a:solidFill>
              </a:rPr>
              <a:t>Heuristic sits near the efficient frontier; plain-reward PPO ties it byte-for-byte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881360" cy="11887"/>
          </a:xfrm>
          <a:prstGeom prst="rect">
            <a:avLst/>
          </a:prstGeom>
          <a:solidFill>
            <a:srgbClr val="DD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B6472"/>
                </a:solidFill>
              </a:rPr>
              <a:t>Energy-Saving RL  ·  ns-O-RAN digital twin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556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2"/>
                </a:solidFill>
              </a:rPr>
              <a:t>07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21761" y="1746503"/>
            <a:ext cx="5948172" cy="405079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DE4F0"/>
            </a:solidFill>
          </a:ln>
          <a:effectLst>
            <a:outerShdw blurRad="110000" dist="42000" dir="54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ummary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9777" y="1874519"/>
            <a:ext cx="5692140" cy="3794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5998464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B6472"/>
                </a:solidFill>
              </a:rPr>
              <a:t>4-seed averages. PPO reproduces the heuristic (a tie). Aggressive pruning saves more energy but costs reliability.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072B2"/>
                </a:solidFill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2233"/>
                </a:solidFill>
              </a:rPr>
              <a:t>Result 2 — an improved reward moved RL off the tie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2468880" cy="6858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5B6472"/>
                </a:solidFill>
              </a:rPr>
              <a:t>Potential-based reward shaping -&gt; a distinct, greener + more-reliable policy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881360" cy="11887"/>
          </a:xfrm>
          <a:prstGeom prst="rect">
            <a:avLst/>
          </a:prstGeom>
          <a:solidFill>
            <a:srgbClr val="DD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B6472"/>
                </a:solidFill>
              </a:rPr>
              <a:t>Energy-Saving RL  ·  ns-O-RAN digital twin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556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2"/>
                </a:solidFill>
              </a:rPr>
              <a:t>08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35016" y="1792224"/>
            <a:ext cx="9521663" cy="405079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DE4F0"/>
            </a:solidFill>
          </a:ln>
          <a:effectLst>
            <a:outerShdw blurRad="110000" dist="42000" dir="54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2_rl_vs_heuristic_by_met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32" y="1920240"/>
            <a:ext cx="9265631" cy="3794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6044184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B6472"/>
                </a:solidFill>
              </a:rPr>
              <a:t>Shaped-reward RL vs balanced heuristic (4-seed avg): +6 pts energy AND ~25% fewer dropped calls, ~9% less throughput.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072B2"/>
                </a:solidFill>
              </a:rPr>
              <a:t>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2233"/>
                </a:solidFill>
              </a:rPr>
              <a:t>Why RL doesn't strictly dominate (the key insight)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2468880" cy="6858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10512"/>
            <a:ext cx="11091672" cy="4462272"/>
          </a:xfrm>
          <a:prstGeom prst="roundRect">
            <a:avLst>
              <a:gd name="adj" fmla="val 2800"/>
            </a:avLst>
          </a:prstGeom>
          <a:solidFill>
            <a:srgbClr val="F3F6FB"/>
          </a:solidFill>
          <a:ln w="12700">
            <a:solidFill>
              <a:srgbClr val="DDE4F0"/>
            </a:solidFill>
          </a:ln>
          <a:effectLst>
            <a:outerShdw blurRad="90000" dist="32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48256"/>
            <a:ext cx="103784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The heuristic is genuinely near-optimal here - it's hard to beat because it's already good.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RL is sample-starved: the slow sim affords only ~640 trial-steps, and random on/off exploration</a:t>
            </a:r>
          </a:p>
          <a:p>
            <a:pPr marL="603504" indent="-274320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009E73"/>
                </a:solidFill>
              </a:rPr>
              <a:t>–  </a:t>
            </a:r>
            <a:r>
              <a:rPr sz="1600" b="0" i="0">
                <a:solidFill>
                  <a:srgbClr val="5B6472"/>
                </a:solidFill>
              </a:rPr>
              <a:t>sleeps idle AND busy cells together -&gt; can't isolate 'sleeping THIS idle cell was the good move'.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The 43% 'idle-but-powered' waste is real in hindsight, but NOT free to reclaim: sleeping a</a:t>
            </a:r>
          </a:p>
          <a:p>
            <a:pPr marL="603504" indent="-274320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009E73"/>
                </a:solidFill>
              </a:rPr>
              <a:t>–  </a:t>
            </a:r>
            <a:r>
              <a:rPr sz="1600" b="0" i="0">
                <a:solidFill>
                  <a:srgbClr val="5B6472"/>
                </a:solidFill>
              </a:rPr>
              <a:t>momentarily-idle cell that's needed next causes a dropped call. The heuristic's caution is justified.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So it's a favourable TRADEOFF (greener + more reliable, slightly less throughput), not a clean sweep.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881360" cy="11887"/>
          </a:xfrm>
          <a:prstGeom prst="rect">
            <a:avLst/>
          </a:prstGeom>
          <a:solidFill>
            <a:srgbClr val="DD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B6472"/>
                </a:solidFill>
              </a:rPr>
              <a:t>Energy-Saving RL  ·  ns-O-RAN digital twin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556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2"/>
                </a:solidFill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072B2"/>
                </a:solidFill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2233"/>
                </a:solidFill>
              </a:rPr>
              <a:t>Operational value — a tunable energy/QoS frontier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2468880" cy="6858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5B6472"/>
                </a:solidFill>
              </a:rPr>
              <a:t>One dial lets an operator choose the operating point; the heuristic is a single fixed point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881360" cy="11887"/>
          </a:xfrm>
          <a:prstGeom prst="rect">
            <a:avLst/>
          </a:prstGeom>
          <a:solidFill>
            <a:srgbClr val="DD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B6472"/>
                </a:solidFill>
              </a:rPr>
              <a:t>Energy-Saving RL  ·  ns-O-RAN digital twin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556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2"/>
                </a:solidFill>
              </a:rPr>
              <a:t>10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0690" y="1792224"/>
            <a:ext cx="5510315" cy="405079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DE4F0"/>
            </a:solidFill>
          </a:ln>
          <a:effectLst>
            <a:outerShdw blurRad="110000" dist="42000" dir="54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3_pruning_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8706" y="1920240"/>
            <a:ext cx="5254283" cy="3794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6044184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B6472"/>
                </a:solidFill>
              </a:rPr>
              <a:t>Pruning 'grace' dial: from the heuristic's point up to ~57% energy saved, trading throughput as you 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072B2"/>
                </a:solidFill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2233"/>
                </a:solidFill>
              </a:rPr>
              <a:t>What the controller does over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2468880" cy="6858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26464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5B6472"/>
                </a:solidFill>
              </a:rPr>
              <a:t>Cells sleep through the lulls and wake for the bursts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37376"/>
            <a:ext cx="10881360" cy="11887"/>
          </a:xfrm>
          <a:prstGeom prst="rect">
            <a:avLst/>
          </a:prstGeom>
          <a:solidFill>
            <a:srgbClr val="DD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B6472"/>
                </a:solidFill>
              </a:rPr>
              <a:t>Energy-Saving RL  ·  ns-O-RAN digital twin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556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2"/>
                </a:solidFill>
              </a:rPr>
              <a:t>11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2398" y="1792224"/>
            <a:ext cx="5166897" cy="405079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DE4F0"/>
            </a:solidFill>
          </a:ln>
          <a:effectLst>
            <a:outerShdw blurRad="110000" dist="42000" dir="5400000" rotWithShape="0">
              <a:srgbClr val="000000">
                <a:alpha val="6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4_controller_behavior_over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0414" y="1920240"/>
            <a:ext cx="4910865" cy="37947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6044184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B6472"/>
                </a:solidFill>
              </a:rPr>
              <a:t>One shaped-RL run (seed 999, ~43% saved). RL's 4-seed AVERAGE is ~40% energy saved; per-seed it varies 25-46%. Idle cells sleep; busy cells stay 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072B2"/>
                </a:solidFill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2233"/>
                </a:solidFill>
              </a:rPr>
              <a:t>Bottom line &amp;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2468880" cy="6858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10512"/>
            <a:ext cx="11091672" cy="4462272"/>
          </a:xfrm>
          <a:prstGeom prst="roundRect">
            <a:avLst>
              <a:gd name="adj" fmla="val 2800"/>
            </a:avLst>
          </a:prstGeom>
          <a:solidFill>
            <a:srgbClr val="F3F6FB"/>
          </a:solidFill>
          <a:ln w="12700">
            <a:solidFill>
              <a:srgbClr val="DDE4F0"/>
            </a:solidFill>
          </a:ln>
          <a:effectLst>
            <a:outerShdw blurRad="90000" dist="32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48256"/>
            <a:ext cx="103784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0072B2"/>
                </a:solidFill>
              </a:rPr>
              <a:t>▪  </a:t>
            </a:r>
            <a:r>
              <a:rPr sz="1600" b="0" i="0">
                <a:solidFill>
                  <a:srgbClr val="1A2233"/>
                </a:solidFill>
              </a:rPr>
              <a:t>Delivered: a realistic bursty twin, a working imitation+RL pipeline (BC 100% match, stable PPO),</a:t>
            </a:r>
          </a:p>
          <a:p>
            <a:pPr marL="603504" indent="-274320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009E73"/>
                </a:solidFill>
              </a:rPr>
              <a:t>–  </a:t>
            </a:r>
            <a:r>
              <a:rPr sz="1400" b="0" i="0">
                <a:solidFill>
                  <a:srgbClr val="5B6472"/>
                </a:solidFill>
              </a:rPr>
              <a:t>a rigorous energy-vs-QoS tradeoff, and a tunable energy-saving controller.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0072B2"/>
                </a:solidFill>
              </a:rPr>
              <a:t>▪  </a:t>
            </a:r>
            <a:r>
              <a:rPr sz="1600" b="0" i="0">
                <a:solidFill>
                  <a:srgbClr val="1A2233"/>
                </a:solidFill>
              </a:rPr>
              <a:t>RL result: with reward shaping, RL learns a greener + more-reliable operating point than the heuristic</a:t>
            </a:r>
          </a:p>
          <a:p>
            <a:pPr marL="603504" indent="-274320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009E73"/>
                </a:solidFill>
              </a:rPr>
              <a:t>–  </a:t>
            </a:r>
            <a:r>
              <a:rPr sz="1400" b="0" i="0">
                <a:solidFill>
                  <a:srgbClr val="5B6472"/>
                </a:solidFill>
              </a:rPr>
              <a:t>- better on energy AND dropped-calls, slightly lower throughput: a favourable, honest tradeoff.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0072B2"/>
                </a:solidFill>
              </a:rPr>
              <a:t>▪  </a:t>
            </a:r>
            <a:r>
              <a:rPr sz="1600" b="0" i="0">
                <a:solidFill>
                  <a:srgbClr val="1A2233"/>
                </a:solidFill>
              </a:rPr>
              <a:t>It does not STRICTLY beat a strong heuristic on all three axes - the real blocker is the slow</a:t>
            </a:r>
          </a:p>
          <a:p>
            <a:pPr marL="603504" indent="-274320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009E73"/>
                </a:solidFill>
              </a:rPr>
              <a:t>–  </a:t>
            </a:r>
            <a:r>
              <a:rPr sz="1400" b="0" i="0">
                <a:solidFill>
                  <a:srgbClr val="5B6472"/>
                </a:solidFill>
              </a:rPr>
              <a:t>simulator's tiny sample budget (~640 RL trial-steps), too little to out-tune a good heuristic.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0072B2"/>
                </a:solidFill>
              </a:rPr>
              <a:t>▪  </a:t>
            </a:r>
            <a:r>
              <a:rPr sz="1600" b="0" i="0">
                <a:solidFill>
                  <a:srgbClr val="1A2233"/>
                </a:solidFill>
              </a:rPr>
              <a:t>Next steps: (1) sample-efficient RL - offline RL on logged data, or a fast learned surrogate of the</a:t>
            </a:r>
          </a:p>
          <a:p>
            <a:pPr marL="603504" indent="-274320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009E73"/>
                </a:solidFill>
              </a:rPr>
              <a:t>–  </a:t>
            </a:r>
            <a:r>
              <a:rPr sz="1400" b="0" i="0">
                <a:solidFill>
                  <a:srgbClr val="5B6472"/>
                </a:solidFill>
              </a:rPr>
              <a:t>sim - to escape that budget;  (2) richer / larger network scenarios;  (3) ship the tunable controller.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881360" cy="11887"/>
          </a:xfrm>
          <a:prstGeom prst="rect">
            <a:avLst/>
          </a:prstGeom>
          <a:solidFill>
            <a:srgbClr val="DD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B6472"/>
                </a:solidFill>
              </a:rPr>
              <a:t>Energy-Saving RL  ·  ns-O-RAN digital twin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556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2"/>
                </a:solidFill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072B2"/>
                </a:solidFill>
              </a:rPr>
              <a:t>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2233"/>
                </a:solidFill>
              </a:rPr>
              <a:t>Reproducibility &amp; deliverables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2468880" cy="68580"/>
          </a:xfrm>
          <a:prstGeom prst="rect">
            <a:avLst/>
          </a:prstGeom>
          <a:gradFill>
            <a:gsLst>
              <a:gs pos="0">
                <a:srgbClr val="0072B2"/>
              </a:gs>
              <a:gs pos="100000">
                <a:srgbClr val="009E73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10512"/>
            <a:ext cx="11091672" cy="4462272"/>
          </a:xfrm>
          <a:prstGeom prst="roundRect">
            <a:avLst>
              <a:gd name="adj" fmla="val 2800"/>
            </a:avLst>
          </a:prstGeom>
          <a:solidFill>
            <a:srgbClr val="F3F6FB"/>
          </a:solidFill>
          <a:ln w="12700">
            <a:solidFill>
              <a:srgbClr val="DDE4F0"/>
            </a:solidFill>
          </a:ln>
          <a:effectLst>
            <a:outerShdw blurRad="90000" dist="32000" dir="540000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48256"/>
            <a:ext cx="103784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Two git repos: ns-3-mmwave-oran (the twin) + ns-o-ran-gym (gym / RL / analysis).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Committed: trained model + demos + obs-stats; all scripts; figures computed live from run folders.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Docs (self-contained): OVERVIEW.md (how it all works), RESULTS.md (findings &amp; numbers),</a:t>
            </a:r>
          </a:p>
          <a:p>
            <a:pPr marL="603504" indent="-274320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009E73"/>
                </a:solidFill>
              </a:rPr>
              <a:t>–  </a:t>
            </a:r>
            <a:r>
              <a:rPr sz="1600" b="0" i="0">
                <a:solidFill>
                  <a:srgbClr val="5B6472"/>
                </a:solidFill>
              </a:rPr>
              <a:t>REPRODUCE.md (build &amp; run from scratch), CONTEXT.md (full-journey primer).</a:t>
            </a:r>
          </a:p>
          <a:p>
            <a:pPr marL="274320" indent="-274320">
              <a:lnSpc>
                <a:spcPct val="112000"/>
              </a:lnSpc>
              <a:spcAft>
                <a:spcPts val="1000"/>
              </a:spcAft>
            </a:pPr>
            <a:r>
              <a:rPr sz="1800" b="1" i="0">
                <a:solidFill>
                  <a:srgbClr val="0072B2"/>
                </a:solidFill>
              </a:rPr>
              <a:t>▪  </a:t>
            </a:r>
            <a:r>
              <a:rPr sz="1800" b="0" i="0">
                <a:solidFill>
                  <a:srgbClr val="1A2233"/>
                </a:solidFill>
              </a:rPr>
              <a:t>Figures: energy-vs-QoS tradeoff, per-metric comparison, pruning frontier, controller-over-time.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37376"/>
            <a:ext cx="10881360" cy="11887"/>
          </a:xfrm>
          <a:prstGeom prst="rect">
            <a:avLst/>
          </a:prstGeom>
          <a:solidFill>
            <a:srgbClr val="DD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B6472"/>
                </a:solidFill>
              </a:rPr>
              <a:t>Energy-Saving RL  ·  ns-O-RAN digital twin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64556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2"/>
                </a:solidFill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